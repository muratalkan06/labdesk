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organization is a fictional CMPE Department Lab Support Desk: one desk lead and three part-time student technicians. A request reaches them three ways — email to the lead, the lab Slack channel, or a student walking up — so there is no single record. The same fix gets done twice or nobody does it, and when the lead is asked which problem has waited longest, the honest answer is that nobody knows. LabDesk replaces those three channels with one queue. Exactly four features, and I froze that count before writing any code: simple and reliable was the explicit strategy, because the grading principle mirrors a real management principle. The two targets that matter live inside the product — at least sixty percent of tickets through the form, and resolution under forty-eight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was solo, so I ran this as a manager rather than a coder: an orchestrator, implementers, a live design reviewer, a security reviewer and an independent verifier, with every change gated before it landed. When I fell behind I cut scope, never quality — continuous integration and a multi-variant UI exploration went, the four features stayed, and the verification gate was never touched. The conflict I analyzed is the desk lead asking to rank technicians by resolution speed. That number is invalid: ticket difficulty is uneven, it is gameable, and it punishes whoever takes the hard tickets. So I negotiated interests, not positions — open workload per technician, plus one team-level resolution time. And the lesson of the build: a ticket resolved in thirty hours displayed fourteen point six days open, past twenty-eight green tests. Tests were necessary, not sufficient.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scored seven risks on probability times impact. The top three are low adoption at twenty, budget overrun at sixteen, key-person dependency at twelve. Adoption outranks everything technical, and that is the management reading: the dominant risk is not construction, it is that the desk keeps using email. Then I simulated the cost. Ten thousand trials over hours, rate and a rework multiplier put the mean at twenty-six thousand seven hundred against a twenty-five thousand dollar budget, and sixty-seven point eight percent of trials exceed it. A point estimate is not a budget, it is an optimistic sample; the P eighty is twenty-nine thousand six hundred forty. And the decision tree: committing now carries minus five thousand six hundred of expected value, piloting first plus one hundred seventeen. That sign flip prices the option to stop.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 is go, with conditions. NPV is positive — plus three thousand five hundred twenty-nine — but thin enough that a cost overrun past twenty-eight and a half thousand erases it, and two independent uncertainties can each do that alone. So the first move is not the build, it is a four-week, two-thousand-dollar pilot: the option to stop is worth more than the commitment, and the tree says so in dollars. I commit the full build only if web-form adoption is trending toward the sixty percent criterion, because that number decides whether the rest matters. I budget at the P eighty, twenty-nine thousand six hundred forty, so the overrun conversation happens now with credibility instead of mid-project without it. And the metric policy holds: workload, not rankings.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777240" y="411480"/>
            <a:ext cx="10607040" cy="1143000"/>
          </a:xfrm>
        </p:spPr>
        <p:txBody>
          <a:bodyPr wrap="square"/>
          <a:lstStyle/>
          <a:p>
            <a:r>
              <a:rPr sz="4000" b="1">
                <a:solidFill>
                  <a:srgbClr val="1A1A1A"/>
                </a:solidFill>
              </a:rPr>
              <a:t>What Did I Build and Why?</a:t>
            </a:r>
          </a:p>
        </p:txBody>
      </p:sp>
      <p:sp>
        <p:nvSpPr>
          <p:cNvPr id="3" name="Content Placeholder 2"/>
          <p:cNvSpPr>
            <a:spLocks noGrp="1"/>
          </p:cNvSpPr>
          <p:nvPr>
            <p:ph idx="1"/>
          </p:nvPr>
        </p:nvSpPr>
        <p:spPr>
          <a:xfrm>
            <a:off x="777240" y="1783080"/>
            <a:ext cx="10607040" cy="4480560"/>
          </a:xfrm>
        </p:spPr>
        <p:txBody>
          <a:bodyPr wrap="square"/>
          <a:lstStyle/>
          <a:p>
            <a:pPr>
              <a:spcAft>
                <a:spcPts val="1800"/>
              </a:spcAft>
              <a:buNone/>
            </a:pPr>
            <a:r>
              <a:rPr sz="1800" b="1">
                <a:solidFill>
                  <a:srgbClr val="555555"/>
                </a:solidFill>
              </a:rPr>
              <a:t>LabDesk — CMPE 165 Project 1 — Murat Alkan</a:t>
            </a:r>
          </a:p>
          <a:p>
            <a:pPr>
              <a:spcBef>
                <a:spcPts val="1000"/>
              </a:spcBef>
            </a:pPr>
            <a:r>
              <a:rPr sz="2200" b="1">
                <a:solidFill>
                  <a:srgbClr val="1A1A1A"/>
                </a:solidFill>
              </a:rPr>
              <a:t>Problem: </a:t>
            </a:r>
            <a:r>
              <a:rPr sz="2200" b="0">
                <a:solidFill>
                  <a:srgbClr val="1A1A1A"/>
                </a:solidFill>
              </a:rPr>
              <a:t>requests scattered across email, Slack and walk-ins — lost requests, zero visibility</a:t>
            </a:r>
          </a:p>
          <a:p>
            <a:pPr>
              <a:spcBef>
                <a:spcPts val="1000"/>
              </a:spcBef>
            </a:pPr>
            <a:r>
              <a:rPr sz="2200" b="1">
                <a:solidFill>
                  <a:srgbClr val="1A1A1A"/>
                </a:solidFill>
              </a:rPr>
              <a:t>The desk: </a:t>
            </a:r>
            <a:r>
              <a:rPr sz="2200" b="0">
                <a:solidFill>
                  <a:srgbClr val="1A1A1A"/>
                </a:solidFill>
              </a:rPr>
              <a:t>1 desk lead + 3 part-time student technicians</a:t>
            </a:r>
          </a:p>
          <a:p>
            <a:pPr>
              <a:spcBef>
                <a:spcPts val="1000"/>
              </a:spcBef>
            </a:pPr>
            <a:r>
              <a:rPr sz="2200" b="1">
                <a:solidFill>
                  <a:srgbClr val="1A1A1A"/>
                </a:solidFill>
              </a:rPr>
              <a:t>LabDesk: </a:t>
            </a:r>
            <a:r>
              <a:rPr sz="2200" b="0">
                <a:solidFill>
                  <a:srgbClr val="1A1A1A"/>
                </a:solidFill>
              </a:rPr>
              <a:t>4 features — submit, searchable queue, guarded triage, metrics dashboard (Python · Streamlit · SQLite)</a:t>
            </a:r>
          </a:p>
          <a:p>
            <a:pPr>
              <a:spcBef>
                <a:spcPts val="1000"/>
              </a:spcBef>
            </a:pPr>
            <a:r>
              <a:rPr sz="2200" b="0">
                <a:solidFill>
                  <a:srgbClr val="1A1A1A"/>
                </a:solidFill>
              </a:rPr>
              <a:t>Every request becomes a ticket — </a:t>
            </a:r>
            <a:r>
              <a:rPr sz="2200" b="1">
                <a:solidFill>
                  <a:srgbClr val="1A1A1A"/>
                </a:solidFill>
              </a:rPr>
              <a:t>zero lost</a:t>
            </a:r>
          </a:p>
          <a:p>
            <a:pPr>
              <a:spcBef>
                <a:spcPts val="1000"/>
              </a:spcBef>
            </a:pPr>
            <a:r>
              <a:rPr sz="2200" b="0">
                <a:solidFill>
                  <a:srgbClr val="1A1A1A"/>
                </a:solidFill>
              </a:rPr>
              <a:t>Measured in the product: </a:t>
            </a:r>
            <a:r>
              <a:rPr sz="2200" b="1">
                <a:solidFill>
                  <a:srgbClr val="1A1A1A"/>
                </a:solidFill>
              </a:rPr>
              <a:t>≥60%</a:t>
            </a:r>
            <a:r>
              <a:rPr sz="2200" b="0">
                <a:solidFill>
                  <a:srgbClr val="1A1A1A"/>
                </a:solidFill>
              </a:rPr>
              <a:t> via the web form · resolution </a:t>
            </a:r>
            <a:r>
              <a:rPr sz="2200" b="1">
                <a:solidFill>
                  <a:srgbClr val="1A1A1A"/>
                </a:solidFill>
              </a:rPr>
              <a:t>under 48h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777240" y="411480"/>
            <a:ext cx="10607040" cy="1143000"/>
          </a:xfrm>
        </p:spPr>
        <p:txBody>
          <a:bodyPr wrap="square"/>
          <a:lstStyle/>
          <a:p>
            <a:r>
              <a:rPr sz="4000" b="1">
                <a:solidFill>
                  <a:srgbClr val="1A1A1A"/>
                </a:solidFill>
              </a:rPr>
              <a:t>How Did I Execute?</a:t>
            </a:r>
          </a:p>
        </p:txBody>
      </p:sp>
      <p:sp>
        <p:nvSpPr>
          <p:cNvPr id="3" name="Content Placeholder 2"/>
          <p:cNvSpPr>
            <a:spLocks noGrp="1"/>
          </p:cNvSpPr>
          <p:nvPr>
            <p:ph idx="1"/>
          </p:nvPr>
        </p:nvSpPr>
        <p:spPr>
          <a:xfrm>
            <a:off x="777240" y="1783080"/>
            <a:ext cx="10607040" cy="4480560"/>
          </a:xfrm>
        </p:spPr>
        <p:txBody>
          <a:bodyPr wrap="square"/>
          <a:lstStyle/>
          <a:p>
            <a:pPr>
              <a:spcBef>
                <a:spcPts val="1000"/>
              </a:spcBef>
            </a:pPr>
            <a:r>
              <a:rPr sz="2200" b="1">
                <a:solidFill>
                  <a:srgbClr val="1A1A1A"/>
                </a:solidFill>
              </a:rPr>
              <a:t>Team: </a:t>
            </a:r>
            <a:r>
              <a:rPr sz="2200" b="0">
                <a:solidFill>
                  <a:srgbClr val="1A1A1A"/>
                </a:solidFill>
              </a:rPr>
              <a:t>solo student directing an AI agent team — orchestrator, implementers, design + security reviewers, independent verifier; every change gated</a:t>
            </a:r>
          </a:p>
          <a:p>
            <a:pPr>
              <a:spcBef>
                <a:spcPts val="1000"/>
              </a:spcBef>
            </a:pPr>
            <a:r>
              <a:rPr sz="2200" b="1">
                <a:solidFill>
                  <a:srgbClr val="1A1A1A"/>
                </a:solidFill>
              </a:rPr>
              <a:t>Leadership: </a:t>
            </a:r>
            <a:r>
              <a:rPr sz="2200" b="0">
                <a:solidFill>
                  <a:srgbClr val="1A1A1A"/>
                </a:solidFill>
              </a:rPr>
              <a:t>servant / situational — behind schedule: </a:t>
            </a:r>
            <a:r>
              <a:rPr sz="2200" b="1">
                <a:solidFill>
                  <a:srgbClr val="1A1A1A"/>
                </a:solidFill>
              </a:rPr>
              <a:t>cut scope, never quality</a:t>
            </a:r>
            <a:r>
              <a:rPr sz="2200" b="0">
                <a:solidFill>
                  <a:srgbClr val="1A1A1A"/>
                </a:solidFill>
              </a:rPr>
              <a:t> (CI + UI polish descoped; 4 features fixed)</a:t>
            </a:r>
          </a:p>
          <a:p>
            <a:pPr>
              <a:spcBef>
                <a:spcPts val="1000"/>
              </a:spcBef>
            </a:pPr>
            <a:r>
              <a:rPr sz="2200" b="1">
                <a:solidFill>
                  <a:srgbClr val="1A1A1A"/>
                </a:solidFill>
              </a:rPr>
              <a:t>Conflict: </a:t>
            </a:r>
            <a:r>
              <a:rPr sz="2200" b="0">
                <a:solidFill>
                  <a:srgbClr val="1A1A1A"/>
                </a:solidFill>
              </a:rPr>
              <a:t>desk lead wants per-technician speed rankings; technicians object</a:t>
            </a:r>
          </a:p>
          <a:p>
            <a:pPr>
              <a:spcBef>
                <a:spcPts val="1000"/>
              </a:spcBef>
            </a:pPr>
            <a:r>
              <a:rPr sz="2200" b="1">
                <a:solidFill>
                  <a:srgbClr val="1A1A1A"/>
                </a:solidFill>
              </a:rPr>
              <a:t>Settlement: </a:t>
            </a:r>
            <a:r>
              <a:rPr sz="2200" b="0">
                <a:solidFill>
                  <a:srgbClr val="1A1A1A"/>
                </a:solidFill>
              </a:rPr>
              <a:t>open workload + team-level resolution time — </a:t>
            </a:r>
            <a:r>
              <a:rPr sz="2200" b="1">
                <a:solidFill>
                  <a:srgbClr val="1A1A1A"/>
                </a:solidFill>
              </a:rPr>
              <a:t>no individual rankings</a:t>
            </a:r>
          </a:p>
          <a:p>
            <a:pPr>
              <a:spcBef>
                <a:spcPts val="1000"/>
              </a:spcBef>
            </a:pPr>
            <a:r>
              <a:rPr sz="2200" b="1">
                <a:solidFill>
                  <a:srgbClr val="1A1A1A"/>
                </a:solidFill>
              </a:rPr>
              <a:t>Vibe-coding lesson: </a:t>
            </a:r>
            <a:r>
              <a:rPr sz="2200" b="0">
                <a:solidFill>
                  <a:srgbClr val="1A1A1A"/>
                </a:solidFill>
              </a:rPr>
              <a:t>“Days open: 14.6” on a ticket resolved in 30 hours passed </a:t>
            </a:r>
            <a:r>
              <a:rPr sz="2200" b="1">
                <a:solidFill>
                  <a:srgbClr val="1A1A1A"/>
                </a:solidFill>
              </a:rPr>
              <a:t>28 green tests</a:t>
            </a:r>
            <a:r>
              <a:rPr sz="2200" b="0">
                <a:solidFill>
                  <a:srgbClr val="1A1A1A"/>
                </a:solidFill>
              </a:rPr>
              <a:t> — only a live review caught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777240" y="411480"/>
            <a:ext cx="10607040" cy="1143000"/>
          </a:xfrm>
        </p:spPr>
        <p:txBody>
          <a:bodyPr wrap="square"/>
          <a:lstStyle/>
          <a:p>
            <a:r>
              <a:rPr sz="4000" b="1">
                <a:solidFill>
                  <a:srgbClr val="1A1A1A"/>
                </a:solidFill>
              </a:rPr>
              <a:t>What Could Go Wrong?</a:t>
            </a:r>
          </a:p>
        </p:txBody>
      </p:sp>
      <p:sp>
        <p:nvSpPr>
          <p:cNvPr id="3" name="Content Placeholder 2"/>
          <p:cNvSpPr>
            <a:spLocks noGrp="1"/>
          </p:cNvSpPr>
          <p:nvPr>
            <p:ph idx="1"/>
          </p:nvPr>
        </p:nvSpPr>
        <p:spPr>
          <a:xfrm>
            <a:off x="777240" y="1783080"/>
            <a:ext cx="10607040" cy="4480560"/>
          </a:xfrm>
        </p:spPr>
        <p:txBody>
          <a:bodyPr wrap="square"/>
          <a:lstStyle/>
          <a:p>
            <a:pPr>
              <a:spcBef>
                <a:spcPts val="1000"/>
              </a:spcBef>
            </a:pPr>
            <a:r>
              <a:rPr sz="2200" b="0">
                <a:solidFill>
                  <a:srgbClr val="1A1A1A"/>
                </a:solidFill>
              </a:rPr>
              <a:t>Top risks (probability × impact): </a:t>
            </a:r>
            <a:r>
              <a:rPr sz="2200" b="1">
                <a:solidFill>
                  <a:srgbClr val="1A1A1A"/>
                </a:solidFill>
              </a:rPr>
              <a:t>Low adoption 20</a:t>
            </a:r>
            <a:r>
              <a:rPr sz="2200" b="0">
                <a:solidFill>
                  <a:srgbClr val="1A1A1A"/>
                </a:solidFill>
              </a:rPr>
              <a:t> · </a:t>
            </a:r>
            <a:r>
              <a:rPr sz="2200" b="1">
                <a:solidFill>
                  <a:srgbClr val="1A1A1A"/>
                </a:solidFill>
              </a:rPr>
              <a:t>Budget overrun 16</a:t>
            </a:r>
            <a:r>
              <a:rPr sz="2200" b="0">
                <a:solidFill>
                  <a:srgbClr val="1A1A1A"/>
                </a:solidFill>
              </a:rPr>
              <a:t> · </a:t>
            </a:r>
            <a:r>
              <a:rPr sz="2200" b="1">
                <a:solidFill>
                  <a:srgbClr val="1A1A1A"/>
                </a:solidFill>
              </a:rPr>
              <a:t>Key-person dependency 12</a:t>
            </a:r>
          </a:p>
          <a:p>
            <a:pPr>
              <a:spcBef>
                <a:spcPts val="1000"/>
              </a:spcBef>
            </a:pPr>
            <a:r>
              <a:rPr sz="2200" b="0">
                <a:solidFill>
                  <a:srgbClr val="1A1A1A"/>
                </a:solidFill>
              </a:rPr>
              <a:t>Monte Carlo, 10,000 trials: mean cost </a:t>
            </a:r>
            <a:r>
              <a:rPr sz="2200" b="1">
                <a:solidFill>
                  <a:srgbClr val="1A1A1A"/>
                </a:solidFill>
              </a:rPr>
              <a:t>$26,734</a:t>
            </a:r>
            <a:r>
              <a:rPr sz="2200" b="0">
                <a:solidFill>
                  <a:srgbClr val="1A1A1A"/>
                </a:solidFill>
              </a:rPr>
              <a:t> vs the </a:t>
            </a:r>
            <a:r>
              <a:rPr sz="2200" b="1">
                <a:solidFill>
                  <a:srgbClr val="1A1A1A"/>
                </a:solidFill>
              </a:rPr>
              <a:t>$25,000</a:t>
            </a:r>
            <a:r>
              <a:rPr sz="2200" b="0">
                <a:solidFill>
                  <a:srgbClr val="1A1A1A"/>
                </a:solidFill>
              </a:rPr>
              <a:t> budget</a:t>
            </a:r>
          </a:p>
          <a:p>
            <a:pPr>
              <a:spcBef>
                <a:spcPts val="1000"/>
              </a:spcBef>
            </a:pPr>
            <a:r>
              <a:rPr sz="2200" b="0">
                <a:solidFill>
                  <a:srgbClr val="1A1A1A"/>
                </a:solidFill>
              </a:rPr>
              <a:t>P(over budget) = </a:t>
            </a:r>
            <a:r>
              <a:rPr sz="2200" b="1">
                <a:solidFill>
                  <a:srgbClr val="1A1A1A"/>
                </a:solidFill>
              </a:rPr>
              <a:t>67.8%</a:t>
            </a:r>
            <a:r>
              <a:rPr sz="2200" b="0">
                <a:solidFill>
                  <a:srgbClr val="1A1A1A"/>
                </a:solidFill>
              </a:rPr>
              <a:t>    ·    P80 = </a:t>
            </a:r>
            <a:r>
              <a:rPr sz="2200" b="1">
                <a:solidFill>
                  <a:srgbClr val="1A1A1A"/>
                </a:solidFill>
              </a:rPr>
              <a:t>$29,640</a:t>
            </a:r>
          </a:p>
          <a:p>
            <a:pPr>
              <a:spcBef>
                <a:spcPts val="1000"/>
              </a:spcBef>
            </a:pPr>
            <a:r>
              <a:rPr sz="2200" b="0">
                <a:solidFill>
                  <a:srgbClr val="1A1A1A"/>
                </a:solidFill>
              </a:rPr>
              <a:t>Decision tree: commit now </a:t>
            </a:r>
            <a:r>
              <a:rPr sz="2200" b="1">
                <a:solidFill>
                  <a:srgbClr val="1A1A1A"/>
                </a:solidFill>
              </a:rPr>
              <a:t>EMV = −$5,600</a:t>
            </a:r>
            <a:r>
              <a:rPr sz="2200" b="0">
                <a:solidFill>
                  <a:srgbClr val="1A1A1A"/>
                </a:solidFill>
              </a:rPr>
              <a:t> · pilot first </a:t>
            </a:r>
            <a:r>
              <a:rPr sz="2200" b="1">
                <a:solidFill>
                  <a:srgbClr val="1A1A1A"/>
                </a:solidFill>
              </a:rPr>
              <a:t>EMV = +$117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777240" y="411480"/>
            <a:ext cx="10607040" cy="1143000"/>
          </a:xfrm>
        </p:spPr>
        <p:txBody>
          <a:bodyPr wrap="square"/>
          <a:lstStyle/>
          <a:p>
            <a:r>
              <a:rPr sz="4000" b="1">
                <a:solidFill>
                  <a:srgbClr val="1A1A1A"/>
                </a:solidFill>
              </a:rPr>
              <a:t>Should We Continue?</a:t>
            </a:r>
          </a:p>
        </p:txBody>
      </p:sp>
      <p:sp>
        <p:nvSpPr>
          <p:cNvPr id="3" name="Content Placeholder 2"/>
          <p:cNvSpPr>
            <a:spLocks noGrp="1"/>
          </p:cNvSpPr>
          <p:nvPr>
            <p:ph idx="1"/>
          </p:nvPr>
        </p:nvSpPr>
        <p:spPr>
          <a:xfrm>
            <a:off x="777240" y="1783080"/>
            <a:ext cx="10607040" cy="4480560"/>
          </a:xfrm>
        </p:spPr>
        <p:txBody>
          <a:bodyPr wrap="square"/>
          <a:lstStyle/>
          <a:p>
            <a:pPr>
              <a:spcBef>
                <a:spcPts val="1000"/>
              </a:spcBef>
            </a:pPr>
            <a:r>
              <a:rPr sz="2800" b="0">
                <a:solidFill>
                  <a:srgbClr val="1A1A1A"/>
                </a:solidFill>
              </a:rPr>
              <a:t>Verdict: </a:t>
            </a:r>
            <a:r>
              <a:rPr sz="2800" b="1">
                <a:solidFill>
                  <a:srgbClr val="1A1A1A"/>
                </a:solidFill>
              </a:rPr>
              <a:t>GO WITH CONDITIONS</a:t>
            </a:r>
          </a:p>
          <a:p>
            <a:pPr>
              <a:spcBef>
                <a:spcPts val="1000"/>
              </a:spcBef>
            </a:pPr>
            <a:r>
              <a:rPr sz="2200" b="0">
                <a:solidFill>
                  <a:srgbClr val="1A1A1A"/>
                </a:solidFill>
              </a:rPr>
              <a:t>Run the 4-week </a:t>
            </a:r>
            <a:r>
              <a:rPr sz="2200" b="1">
                <a:solidFill>
                  <a:srgbClr val="1A1A1A"/>
                </a:solidFill>
              </a:rPr>
              <a:t>$2,000</a:t>
            </a:r>
            <a:r>
              <a:rPr sz="2200" b="0">
                <a:solidFill>
                  <a:srgbClr val="1A1A1A"/>
                </a:solidFill>
              </a:rPr>
              <a:t> pilot first — </a:t>
            </a:r>
            <a:r>
              <a:rPr sz="2200" b="1">
                <a:solidFill>
                  <a:srgbClr val="1A1A1A"/>
                </a:solidFill>
              </a:rPr>
              <a:t>EMV +$117</a:t>
            </a:r>
            <a:r>
              <a:rPr sz="2200" b="0">
                <a:solidFill>
                  <a:srgbClr val="1A1A1A"/>
                </a:solidFill>
              </a:rPr>
              <a:t> vs </a:t>
            </a:r>
            <a:r>
              <a:rPr sz="2200" b="1">
                <a:solidFill>
                  <a:srgbClr val="1A1A1A"/>
                </a:solidFill>
              </a:rPr>
              <a:t>−$5,600</a:t>
            </a:r>
            <a:r>
              <a:rPr sz="2200" b="0">
                <a:solidFill>
                  <a:srgbClr val="1A1A1A"/>
                </a:solidFill>
              </a:rPr>
              <a:t> to commit now</a:t>
            </a:r>
          </a:p>
          <a:p>
            <a:pPr>
              <a:spcBef>
                <a:spcPts val="1000"/>
              </a:spcBef>
            </a:pPr>
            <a:r>
              <a:rPr sz="2200" b="0">
                <a:solidFill>
                  <a:srgbClr val="1A1A1A"/>
                </a:solidFill>
              </a:rPr>
              <a:t>Commit to the full build only if web-form adoption trends toward </a:t>
            </a:r>
            <a:r>
              <a:rPr sz="2200" b="1">
                <a:solidFill>
                  <a:srgbClr val="1A1A1A"/>
                </a:solidFill>
              </a:rPr>
              <a:t>≥60%</a:t>
            </a:r>
          </a:p>
          <a:p>
            <a:pPr>
              <a:spcBef>
                <a:spcPts val="1000"/>
              </a:spcBef>
            </a:pPr>
            <a:r>
              <a:rPr sz="2200" b="0">
                <a:solidFill>
                  <a:srgbClr val="1A1A1A"/>
                </a:solidFill>
              </a:rPr>
              <a:t>Budget the full build at P80: </a:t>
            </a:r>
            <a:r>
              <a:rPr sz="2200" b="1">
                <a:solidFill>
                  <a:srgbClr val="1A1A1A"/>
                </a:solidFill>
              </a:rPr>
              <a:t>$29,640</a:t>
            </a:r>
            <a:r>
              <a:rPr sz="2200" b="0">
                <a:solidFill>
                  <a:srgbClr val="1A1A1A"/>
                </a:solidFill>
              </a:rPr>
              <a:t>, not $25,000</a:t>
            </a:r>
          </a:p>
          <a:p>
            <a:pPr>
              <a:spcBef>
                <a:spcPts val="1000"/>
              </a:spcBef>
            </a:pPr>
            <a:r>
              <a:rPr sz="2200" b="0">
                <a:solidFill>
                  <a:srgbClr val="1A1A1A"/>
                </a:solidFill>
              </a:rPr>
              <a:t>Keep the </a:t>
            </a:r>
            <a:r>
              <a:rPr sz="2200" b="1">
                <a:solidFill>
                  <a:srgbClr val="1A1A1A"/>
                </a:solidFill>
              </a:rPr>
              <a:t>no-rankings</a:t>
            </a:r>
            <a:r>
              <a:rPr sz="2200" b="0">
                <a:solidFill>
                  <a:srgbClr val="1A1A1A"/>
                </a:solidFill>
              </a:rPr>
              <a:t> metric policy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